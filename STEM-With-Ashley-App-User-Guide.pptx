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1737360" cy="1737360"/>
          </a:xfrm>
          <a:prstGeom prst="ellipse">
            <a:avLst/>
          </a:prstGeom>
          <a:ln w="19050">
            <a:solidFill>
              <a:srgbClr val="DFE3E8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108960" y="1965960"/>
            <a:ext cx="8412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933"/>
                </a:solidFill>
                <a:latin typeface="Calibri"/>
              </a:rPr>
              <a:t>STEM With Ashley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788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1A56DB"/>
                </a:solidFill>
                <a:latin typeface="Calibri"/>
              </a:rPr>
              <a:t>App 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3520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A6472"/>
                </a:solidFill>
                <a:latin typeface="Calibri"/>
              </a:rPr>
              <a:t>A step-by-step walkthrough for demonstrating the app to a student or teammate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035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2"/>
                </a:solidFill>
                <a:latin typeface="Calibri"/>
              </a:rPr>
              <a:t>Prepared for Ashley  •  stem-with-ashley.vercel.app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384048" cy="384048"/>
          </a:xfrm>
          <a:prstGeom prst="ellipse">
            <a:avLst/>
          </a:prstGeom>
          <a:ln w="9525">
            <a:solidFill>
              <a:srgbClr val="DFE3E8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960120" y="301752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2933"/>
                </a:solidFill>
                <a:latin typeface="Calibri"/>
              </a:rPr>
              <a:t>Stem With Ashley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 u="none">
                <a:solidFill>
                  <a:srgbClr val="1A56DB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Calibri"/>
              </a:rPr>
              <a:t>What Is STEM With Ashley?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alibri"/>
              </a:rPr>
              <a:t>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1800">
                <a:solidFill>
                  <a:srgbClr val="1F2933"/>
                </a:solidFill>
                <a:latin typeface="Calibri"/>
              </a:rPr>
              <a:t>•  STEM With Ashley is a free website that helps students explore realistic five-year career paths in ten STEM fields, from entry-level to senior roles.</a:t>
            </a:r>
          </a:p>
          <a:p>
            <a:pPr>
              <a:spcAft>
                <a:spcPts val="2200"/>
              </a:spcAft>
            </a:pPr>
            <a:r>
              <a:rPr sz="1800">
                <a:solidFill>
                  <a:srgbClr val="1F2933"/>
                </a:solidFill>
                <a:latin typeface="Calibri"/>
              </a:rPr>
              <a:t>•  It's built for two moments in a student's journey: choosing a major, and mapping out what a career actually looks like once they graduate.</a:t>
            </a:r>
          </a:p>
          <a:p>
            <a:pPr>
              <a:spcAft>
                <a:spcPts val="2200"/>
              </a:spcAft>
            </a:pPr>
            <a:r>
              <a:rPr sz="1800">
                <a:solidFill>
                  <a:srgbClr val="1F2933"/>
                </a:solidFill>
                <a:latin typeface="Calibri"/>
              </a:rPr>
              <a:t>•  Beyond the roadmap itself, it now also connects students to real day-in-the-life media, a credible career-interest assessment, and an early-career job search tool — all in one place.</a:t>
            </a:r>
          </a:p>
          <a:p>
            <a:pPr>
              <a:spcAft>
                <a:spcPts val="2200"/>
              </a:spcAft>
            </a:pPr>
            <a:r>
              <a:rPr sz="1800">
                <a:solidFill>
                  <a:srgbClr val="1F2933"/>
                </a:solidFill>
                <a:latin typeface="Calibri"/>
              </a:rPr>
              <a:t>•  This guide walks through every part of the app in the order you'd naturally show it to a student, ending with a quick troubleshooting reference.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384048" cy="384048"/>
          </a:xfrm>
          <a:prstGeom prst="ellipse">
            <a:avLst/>
          </a:prstGeom>
          <a:ln w="9525">
            <a:solidFill>
              <a:srgbClr val="DFE3E8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960120" y="301752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2933"/>
                </a:solidFill>
                <a:latin typeface="Calibri"/>
              </a:rPr>
              <a:t>Stem With Ashley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 u="none">
                <a:solidFill>
                  <a:srgbClr val="1A56DB"/>
                </a:solidFill>
                <a:latin typeface="Calibri"/>
              </a:rPr>
              <a:t>STEP 1 · THE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Calibri"/>
              </a:rPr>
              <a:t>The Home Page: Browsing STEM Fields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alibri"/>
              </a:rPr>
              <a:t>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The home page (“Fields” in the top navigation) is the main roadmap experience.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It lists all 10 STEM career fields as cards, each with a short summary.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Clicking any card opens that field's full five-year roadmap.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The navigation bar at the top is how you move between every part of the app — Fields, Majors, Skills, Resources, My Shortlist, and Find a Job.</a:t>
            </a:r>
          </a:p>
        </p:txBody>
      </p:sp>
      <p:pic>
        <p:nvPicPr>
          <p:cNvPr id="9" name="Picture 8" descr="01-home-fiel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94560"/>
            <a:ext cx="7315200" cy="3662271"/>
          </a:xfrm>
          <a:prstGeom prst="rect">
            <a:avLst/>
          </a:prstGeom>
          <a:ln w="12700">
            <a:solidFill>
              <a:srgbClr val="DFE3E8"/>
            </a:solidFill>
          </a:ln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384048" cy="384048"/>
          </a:xfrm>
          <a:prstGeom prst="ellipse">
            <a:avLst/>
          </a:prstGeom>
          <a:ln w="9525">
            <a:solidFill>
              <a:srgbClr val="DFE3E8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960120" y="301752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2933"/>
                </a:solidFill>
                <a:latin typeface="Calibri"/>
              </a:rPr>
              <a:t>Stem With Ashley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 u="none">
                <a:solidFill>
                  <a:srgbClr val="1A56DB"/>
                </a:solidFill>
                <a:latin typeface="Calibri"/>
              </a:rPr>
              <a:t>STEP 2 · THE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Calibri"/>
              </a:rPr>
              <a:t>Inside a Field: The Five-Year Pathway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alibri"/>
              </a:rPr>
              <a:t>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Clicking a field (here, Aerospace Engineering) opens its detail page.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The pathway shows 4 realistic career stages, from entry-level to senior — with typical responsibilities and timeframes for each.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Below the pathway: real companies, certifications, master's programs, conferences, and professional organizations for that field.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The star icon on any item saves it to “My Shortlist” for later.</a:t>
            </a:r>
          </a:p>
        </p:txBody>
      </p:sp>
      <p:pic>
        <p:nvPicPr>
          <p:cNvPr id="9" name="Picture 8" descr="02a-pathway-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94560"/>
            <a:ext cx="7315200" cy="2615908"/>
          </a:xfrm>
          <a:prstGeom prst="rect">
            <a:avLst/>
          </a:prstGeom>
          <a:ln w="12700">
            <a:solidFill>
              <a:srgbClr val="DFE3E8"/>
            </a:solidFill>
          </a:ln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384048" cy="384048"/>
          </a:xfrm>
          <a:prstGeom prst="ellipse">
            <a:avLst/>
          </a:prstGeom>
          <a:ln w="9525">
            <a:solidFill>
              <a:srgbClr val="DFE3E8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960120" y="301752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2933"/>
                </a:solidFill>
                <a:latin typeface="Calibri"/>
              </a:rPr>
              <a:t>Stem With Ashley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 u="none">
                <a:solidFill>
                  <a:srgbClr val="1A56DB"/>
                </a:solidFill>
                <a:latin typeface="Calibri"/>
              </a:rPr>
              <a:t>STEP 3 · MAJORS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Calibri"/>
              </a:rPr>
              <a:t>Exploring STEM Majors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alibri"/>
              </a:rPr>
              <a:t>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The Majors page is for students who haven't picked a major yet.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It lists 10 common STEM majors with a plain-language summary of what each one actually involves.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This is a good starting point to show a student before jumping into the career-level Fields pages.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Click “Majors” in the top navigation to get here from anywhere.</a:t>
            </a:r>
          </a:p>
        </p:txBody>
      </p:sp>
      <p:pic>
        <p:nvPicPr>
          <p:cNvPr id="9" name="Picture 8" descr="03-majors-gri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94560"/>
            <a:ext cx="7315200" cy="3662271"/>
          </a:xfrm>
          <a:prstGeom prst="rect">
            <a:avLst/>
          </a:prstGeom>
          <a:ln w="12700">
            <a:solidFill>
              <a:srgbClr val="DFE3E8"/>
            </a:solidFill>
          </a:ln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384048" cy="384048"/>
          </a:xfrm>
          <a:prstGeom prst="ellipse">
            <a:avLst/>
          </a:prstGeom>
          <a:ln w="9525">
            <a:solidFill>
              <a:srgbClr val="DFE3E8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960120" y="301752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2933"/>
                </a:solidFill>
                <a:latin typeface="Calibri"/>
              </a:rPr>
              <a:t>Stem With Ashley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 u="none">
                <a:solidFill>
                  <a:srgbClr val="1A56DB"/>
                </a:solidFill>
                <a:latin typeface="Calibri"/>
              </a:rPr>
              <a:t>STEP 4 · MAJORS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Calibri"/>
              </a:rPr>
              <a:t>Inside a Major: Courses &amp; Where It Leads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alibri"/>
              </a:rPr>
              <a:t>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Each major page explains why students choose it and lists the typical courses involved.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The “Careers this leads to” section links directly into the matching Field page(s) — connecting the major decision to the career roadmap.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This is the natural bridge between “what should I study” and “what will my career look like.”</a:t>
            </a:r>
          </a:p>
        </p:txBody>
      </p:sp>
      <p:pic>
        <p:nvPicPr>
          <p:cNvPr id="9" name="Picture 8" descr="04-major-detail-aerospa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94560"/>
            <a:ext cx="7315200" cy="3662271"/>
          </a:xfrm>
          <a:prstGeom prst="rect">
            <a:avLst/>
          </a:prstGeom>
          <a:ln w="12700">
            <a:solidFill>
              <a:srgbClr val="DFE3E8"/>
            </a:solidFill>
          </a:ln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384048" cy="384048"/>
          </a:xfrm>
          <a:prstGeom prst="ellipse">
            <a:avLst/>
          </a:prstGeom>
          <a:ln w="9525">
            <a:solidFill>
              <a:srgbClr val="DFE3E8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960120" y="301752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2933"/>
                </a:solidFill>
                <a:latin typeface="Calibri"/>
              </a:rPr>
              <a:t>Stem With Ashley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 u="none">
                <a:solidFill>
                  <a:srgbClr val="1A56DB"/>
                </a:solidFill>
                <a:latin typeface="Calibri"/>
              </a:rPr>
              <a:t>STEP 5 ·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Calibri"/>
              </a:rPr>
              <a:t>The Resources Page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alibri"/>
              </a:rPr>
              <a:t>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The Resources page is a hub for extra tools that don't fit inside a single field or major.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Right now it holds one featured resource — a free career-interest assessment — plus a link into the Job Finder.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More resources can be added here over time as Ashley finds useful ones.</a:t>
            </a:r>
          </a:p>
        </p:txBody>
      </p:sp>
      <p:pic>
        <p:nvPicPr>
          <p:cNvPr id="9" name="Picture 8" descr="05-resources-p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94560"/>
            <a:ext cx="7315200" cy="3662271"/>
          </a:xfrm>
          <a:prstGeom prst="rect">
            <a:avLst/>
          </a:prstGeom>
          <a:ln w="12700">
            <a:solidFill>
              <a:srgbClr val="DFE3E8"/>
            </a:solidFill>
          </a:ln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384048" cy="384048"/>
          </a:xfrm>
          <a:prstGeom prst="ellipse">
            <a:avLst/>
          </a:prstGeom>
          <a:ln w="9525">
            <a:solidFill>
              <a:srgbClr val="DFE3E8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960120" y="301752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2933"/>
                </a:solidFill>
                <a:latin typeface="Calibri"/>
              </a:rPr>
              <a:t>Stem With Ashley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 u="none">
                <a:solidFill>
                  <a:srgbClr val="1A56DB"/>
                </a:solidFill>
                <a:latin typeface="Calibri"/>
              </a:rPr>
              <a:t>STEP 6 ·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Calibri"/>
              </a:rPr>
              <a:t>Opening the Career Matchmaking Assessment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alibri"/>
              </a:rPr>
              <a:t>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The featured resource is the O*NET Interest Profiler, a free ~20-minute assessment from the U.S. Department of Labor.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It maps a student's answers to 900+ real occupations, complete with salary and outlook data.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Clicking the link opens it in a new browser tab — the student never leaves the assessment mid-way by accident, and can just close the tab to come back.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This is a credible, government-run tool — not a custom quiz we built or maintain.</a:t>
            </a:r>
          </a:p>
        </p:txBody>
      </p:sp>
      <p:pic>
        <p:nvPicPr>
          <p:cNvPr id="9" name="Picture 8" descr="05b-quiz-link-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743200"/>
            <a:ext cx="7315200" cy="914400"/>
          </a:xfrm>
          <a:prstGeom prst="rect">
            <a:avLst/>
          </a:prstGeom>
          <a:ln w="12700">
            <a:solidFill>
              <a:srgbClr val="DFE3E8"/>
            </a:solidFill>
          </a:ln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</p:pic>
      <p:sp>
        <p:nvSpPr>
          <p:cNvPr id="10" name="Rounded Rectangle 9"/>
          <p:cNvSpPr/>
          <p:nvPr/>
        </p:nvSpPr>
        <p:spPr>
          <a:xfrm>
            <a:off x="4389120" y="2715768"/>
            <a:ext cx="7406640" cy="969264"/>
          </a:xfrm>
          <a:prstGeom prst="roundRect">
            <a:avLst/>
          </a:prstGeom>
          <a:noFill/>
          <a:ln w="285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368296"/>
            <a:ext cx="740664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300" b="1">
                <a:solidFill>
                  <a:srgbClr val="DC2626"/>
                </a:solidFill>
                <a:latin typeface="Calibri"/>
              </a:rPr>
              <a:t>Click the blue title to open in a new tab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384048" cy="384048"/>
          </a:xfrm>
          <a:prstGeom prst="ellipse">
            <a:avLst/>
          </a:prstGeom>
          <a:ln w="9525">
            <a:solidFill>
              <a:srgbClr val="DFE3E8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960120" y="301752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2933"/>
                </a:solidFill>
                <a:latin typeface="Calibri"/>
              </a:rPr>
              <a:t>Stem With Ashley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 u="none">
                <a:solidFill>
                  <a:srgbClr val="1A56DB"/>
                </a:solidFill>
                <a:latin typeface="Calibri"/>
              </a:rPr>
              <a:t>STEP 7 · THE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Calibri"/>
              </a:rPr>
              <a:t>“Day in the Life” Videos &amp; Podcasts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alibri"/>
              </a:rPr>
              <a:t>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Every field page now has a “Hear/see what this is really like” section, below the pathway.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Each field links to one real YouTube video and one podcast episode showing what that career actually looks like day-to-day.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Every link was manually checked before being added — no dead or unrelated links.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Like the assessment, these open in a new tab so the roadmap page stays open behind them.</a:t>
            </a:r>
          </a:p>
        </p:txBody>
      </p:sp>
      <p:pic>
        <p:nvPicPr>
          <p:cNvPr id="9" name="Picture 8" descr="02b-media-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377440"/>
            <a:ext cx="7315200" cy="1093076"/>
          </a:xfrm>
          <a:prstGeom prst="rect">
            <a:avLst/>
          </a:prstGeom>
          <a:ln w="12700">
            <a:solidFill>
              <a:srgbClr val="DFE3E8"/>
            </a:solidFill>
          </a:ln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384048" cy="384048"/>
          </a:xfrm>
          <a:prstGeom prst="ellipse">
            <a:avLst/>
          </a:prstGeom>
          <a:ln w="9525">
            <a:solidFill>
              <a:srgbClr val="DFE3E8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960120" y="301752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2933"/>
                </a:solidFill>
                <a:latin typeface="Calibri"/>
              </a:rPr>
              <a:t>Stem With Ashley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 u="none">
                <a:solidFill>
                  <a:srgbClr val="1A56DB"/>
                </a:solidFill>
                <a:latin typeface="Calibri"/>
              </a:rPr>
              <a:t>STEP 8 · JOB 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Calibri"/>
              </a:rPr>
              <a:t>Using the Job Finder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alibri"/>
              </a:rPr>
              <a:t>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The Job Finder is a separate tool for students moving from college into their first role.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Open it from “Find a Job” in the top navigation, or from the link on the Resources page.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Listings shown today are clearly labeled sample data (see the yellow banner) — real listings can be connected later without changing how the page works.</a:t>
            </a:r>
          </a:p>
        </p:txBody>
      </p:sp>
      <p:pic>
        <p:nvPicPr>
          <p:cNvPr id="9" name="Picture 8" descr="06-jobfinder-defaul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94560"/>
            <a:ext cx="7315200" cy="3662271"/>
          </a:xfrm>
          <a:prstGeom prst="rect">
            <a:avLst/>
          </a:prstGeom>
          <a:ln w="12700">
            <a:solidFill>
              <a:srgbClr val="DFE3E8"/>
            </a:solidFill>
          </a:ln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384048" cy="384048"/>
          </a:xfrm>
          <a:prstGeom prst="ellipse">
            <a:avLst/>
          </a:prstGeom>
          <a:ln w="9525">
            <a:solidFill>
              <a:srgbClr val="DFE3E8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960120" y="301752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2933"/>
                </a:solidFill>
                <a:latin typeface="Calibri"/>
              </a:rPr>
              <a:t>Stem With Ashley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 u="none">
                <a:solidFill>
                  <a:srgbClr val="1A56DB"/>
                </a:solidFill>
                <a:latin typeface="Calibri"/>
              </a:rPr>
              <a:t>STEP 9 · JOB 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Calibri"/>
              </a:rPr>
              <a:t>Applying Filters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alibri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Four filters narrow the list: Keyword, STEM field, Experience level, and Location.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Results update instantly as you type or choose — no need to click a search button.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Example shown: STEM field set to Computer Science, Location set to “Remote,” narrowing 12 listings down to 2.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F2933"/>
                </a:solidFill>
                <a:latin typeface="Calibri"/>
              </a:rPr>
              <a:t>•  Typing “remote” in Location (not Keyword) is what matches remote-friendly listings.</a:t>
            </a:r>
          </a:p>
        </p:txBody>
      </p:sp>
      <p:pic>
        <p:nvPicPr>
          <p:cNvPr id="9" name="Picture 8" descr="07-jobfinder-filte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94560"/>
            <a:ext cx="7315200" cy="3662271"/>
          </a:xfrm>
          <a:prstGeom prst="rect">
            <a:avLst/>
          </a:prstGeom>
          <a:ln w="12700">
            <a:solidFill>
              <a:srgbClr val="DFE3E8"/>
            </a:solidFill>
          </a:ln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384048" cy="384048"/>
          </a:xfrm>
          <a:prstGeom prst="ellipse">
            <a:avLst/>
          </a:prstGeom>
          <a:ln w="9525">
            <a:solidFill>
              <a:srgbClr val="DFE3E8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960120" y="301752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2933"/>
                </a:solidFill>
                <a:latin typeface="Calibri"/>
              </a:rPr>
              <a:t>Stem With Ashley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 u="none">
                <a:solidFill>
                  <a:srgbClr val="1A56DB"/>
                </a:solidFill>
                <a:latin typeface="Calibri"/>
              </a:rPr>
              <a:t>STEP 10 · GETTING 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Calibri"/>
              </a:rPr>
              <a:t>Moving Between the Job Finder and the Roadmap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alibri"/>
              </a:rP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2933"/>
                </a:solidFill>
                <a:latin typeface="Calibri"/>
              </a:rPr>
              <a:t>•  From the Job Finder, use “← Back to Roadmap” in the top-right corner to return to the main app.</a:t>
            </a:r>
          </a:p>
        </p:txBody>
      </p:sp>
      <p:pic>
        <p:nvPicPr>
          <p:cNvPr id="9" name="Picture 8" descr="06a-backlink-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017520"/>
            <a:ext cx="7589520" cy="1082589"/>
          </a:xfrm>
          <a:prstGeom prst="rect">
            <a:avLst/>
          </a:prstGeom>
          <a:ln w="12700">
            <a:solidFill>
              <a:srgbClr val="DFE3E8"/>
            </a:solidFill>
          </a:ln>
          <a:effectLst>
            <a:outerShdw blurRad="90000" dist="30000" dir="5400000" rotWithShape="0">
              <a:srgbClr val="1F2933">
                <a:alpha val="2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457200" y="434340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2933"/>
                </a:solidFill>
                <a:latin typeface="Calibri"/>
              </a:rPr>
              <a:t>•  From the roadmap, you can get to the Job Finder the same two ways: the “Find a Job” nav link, or the Resources page.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3"/>
                </a:solidFill>
                <a:latin typeface="Calibri"/>
              </a:rPr>
              <a:t>•  Both the app and the Job Finder always keep the Stem With Ashley header, so it never feels like leaving the product.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384048" cy="384048"/>
          </a:xfrm>
          <a:prstGeom prst="ellipse">
            <a:avLst/>
          </a:prstGeom>
          <a:ln w="9525">
            <a:solidFill>
              <a:srgbClr val="DFE3E8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960120" y="301752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2933"/>
                </a:solidFill>
                <a:latin typeface="Calibri"/>
              </a:rPr>
              <a:t>Stem With Ashley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 u="none">
                <a:solidFill>
                  <a:srgbClr val="1A56DB"/>
                </a:solidFill>
                <a:latin typeface="Calibri"/>
              </a:rPr>
              <a:t>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Calibri"/>
              </a:rPr>
              <a:t>Troubleshooting &amp; Good Habits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alibri"/>
              </a:rPr>
              <a:t>12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5303520" cy="4023360"/>
          </a:xfrm>
          <a:prstGeom prst="roundRect">
            <a:avLst/>
          </a:prstGeom>
          <a:solidFill>
            <a:srgbClr val="F7F8FA"/>
          </a:solidFill>
          <a:ln>
            <a:solidFill>
              <a:srgbClr val="D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1A56DB"/>
                </a:solidFill>
                <a:latin typeface="Calibri"/>
              </a:rPr>
              <a:t>If something looks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F2933"/>
                </a:solidFill>
                <a:latin typeface="Calibri"/>
              </a:rPr>
              <a:t>•  Refresh the page first. This fixes the vast majority of odd behavior — the site has no login, so nothing is lost.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F2933"/>
                </a:solidFill>
                <a:latin typeface="Calibri"/>
              </a:rPr>
              <a:t>•  Make sure you're clicking nav links, not the browser's own back button, when moving between pages inside the app.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F2933"/>
                </a:solidFill>
                <a:latin typeface="Calibri"/>
              </a:rPr>
              <a:t>•  External links (the quiz, YouTube, podcasts) always open in a new tab — if one doesn't seem to load, check for a new tab that opened behind the current one.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F2933"/>
                </a:solidFill>
                <a:latin typeface="Calibri"/>
              </a:rPr>
              <a:t>•  The Job Finder is a separate page from the main app — use its “← Back to Roadmap” link, not the browser back button, to return cleanly.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240280"/>
            <a:ext cx="5303520" cy="4023360"/>
          </a:xfrm>
          <a:prstGeom prst="roundRect">
            <a:avLst/>
          </a:prstGeom>
          <a:solidFill>
            <a:srgbClr val="F7F8FA"/>
          </a:solidFill>
          <a:ln>
            <a:solidFill>
              <a:srgbClr val="D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3774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1A56DB"/>
                </a:solidFill>
                <a:latin typeface="Calibri"/>
              </a:rPr>
              <a:t>If content needs to be updated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3464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F2933"/>
                </a:solidFill>
                <a:latin typeface="Calibri"/>
              </a:rPr>
              <a:t>•  Almost all content (fields, majors, resources, media links) lives in one file, data/roadmap-data.json, in the GitHub repository.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F2933"/>
                </a:solidFill>
                <a:latin typeface="Calibri"/>
              </a:rPr>
              <a:t>•  data/README.md in the same repository explains how to edit it in plain language, with no coding experience required.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F2933"/>
                </a:solidFill>
                <a:latin typeface="Calibri"/>
              </a:rPr>
              <a:t>•  For anything beyond a content edit — new features, design changes, or something that looks broken after an edit — contact Shikhar.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F2933"/>
                </a:solidFill>
                <a:latin typeface="Calibri"/>
              </a:rPr>
              <a:t>•  Repository: github.com/shikharsisodia7/stem-with-ashley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